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Gelasio Semi Bold"/>
      <p:regular r:id="rId17"/>
    </p:embeddedFont>
    <p:embeddedFont>
      <p:font typeface="Gelasio Semi Bold"/>
      <p:regular r:id="rId18"/>
    </p:embeddedFont>
    <p:embeddedFont>
      <p:font typeface="Gelasio Semi Bold"/>
      <p:regular r:id="rId19"/>
    </p:embeddedFont>
    <p:embeddedFont>
      <p:font typeface="Gelasio Semi Bold"/>
      <p:regular r:id="rId20"/>
    </p:embeddedFont>
    <p:embeddedFont>
      <p:font typeface="Gelasio"/>
      <p:regular r:id="rId21"/>
    </p:embeddedFont>
    <p:embeddedFont>
      <p:font typeface="Gelasio"/>
      <p:regular r:id="rId22"/>
    </p:embeddedFont>
    <p:embeddedFont>
      <p:font typeface="Gelasio"/>
      <p:regular r:id="rId23"/>
    </p:embeddedFont>
    <p:embeddedFont>
      <p:font typeface="Gelasi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C49F8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054429"/>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FFFFF"/>
                </a:solidFill>
                <a:latin typeface="Gelasio Semi Bold" pitchFamily="34" charset="0"/>
                <a:ea typeface="Gelasio Semi Bold" pitchFamily="34" charset="-122"/>
                <a:cs typeface="Gelasio Semi Bold" pitchFamily="34" charset="-120"/>
              </a:rPr>
              <a:t>Unlocking </a:t>
            </a:r>
            <a:pPr algn="l" indent="0" marL="0">
              <a:lnSpc>
                <a:spcPts val="5550"/>
              </a:lnSpc>
              <a:buNone/>
            </a:pPr>
            <a:r>
              <a:rPr lang="en-US" sz="4450" dirty="0">
                <a:solidFill>
                  <a:srgbClr val="000000"/>
                </a:solidFill>
                <a:latin typeface="Gelasio Semi Bold" pitchFamily="34" charset="0"/>
                <a:ea typeface="Gelasio Semi Bold" pitchFamily="34" charset="-122"/>
                <a:cs typeface="Gelasio Semi Bold" pitchFamily="34" charset="-120"/>
              </a:rPr>
              <a:t>Tourism Potential</a:t>
            </a:r>
            <a:endParaRPr lang="en-US" sz="4450" dirty="0"/>
          </a:p>
        </p:txBody>
      </p:sp>
      <p:sp>
        <p:nvSpPr>
          <p:cNvPr id="4" name="Text 1"/>
          <p:cNvSpPr/>
          <p:nvPr/>
        </p:nvSpPr>
        <p:spPr>
          <a:xfrm>
            <a:off x="793790" y="481214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Gelasio" pitchFamily="34" charset="0"/>
                <a:ea typeface="Gelasio" pitchFamily="34" charset="-122"/>
                <a:cs typeface="Gelasio" pitchFamily="34" charset="-120"/>
              </a:rPr>
              <a:t>Leveraging Data Analytics for Enhanced Traveler Experiences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79419" y="754499"/>
            <a:ext cx="4871561" cy="354330"/>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Understanding Traveler Sentiment</a:t>
            </a:r>
            <a:endParaRPr lang="en-US" sz="2200" dirty="0"/>
          </a:p>
        </p:txBody>
      </p:sp>
      <p:sp>
        <p:nvSpPr>
          <p:cNvPr id="3" name="Text 1"/>
          <p:cNvSpPr/>
          <p:nvPr/>
        </p:nvSpPr>
        <p:spPr>
          <a:xfrm>
            <a:off x="4235768" y="1335643"/>
            <a:ext cx="6158746" cy="708779"/>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Rating the Experience</a:t>
            </a:r>
            <a:endParaRPr lang="en-US" sz="4450" dirty="0"/>
          </a:p>
        </p:txBody>
      </p:sp>
      <p:pic>
        <p:nvPicPr>
          <p:cNvPr id="4" name="Image 0" descr="preencoded.png">    </p:cNvPr>
          <p:cNvPicPr>
            <a:picLocks noChangeAspect="1"/>
          </p:cNvPicPr>
          <p:nvPr/>
        </p:nvPicPr>
        <p:blipFill>
          <a:blip r:embed="rId1"/>
          <a:stretch>
            <a:fillRect/>
          </a:stretch>
        </p:blipFill>
        <p:spPr>
          <a:xfrm>
            <a:off x="793790" y="2639735"/>
            <a:ext cx="6244709" cy="4580096"/>
          </a:xfrm>
          <a:prstGeom prst="rect">
            <a:avLst/>
          </a:prstGeom>
        </p:spPr>
      </p:pic>
      <p:sp>
        <p:nvSpPr>
          <p:cNvPr id="5" name="Text 2"/>
          <p:cNvSpPr/>
          <p:nvPr/>
        </p:nvSpPr>
        <p:spPr>
          <a:xfrm>
            <a:off x="7599521" y="2588657"/>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Our initial exploratory data analysis (EDA) reveals a strong positive trend in tourist ratings. The majority of experiences are rated between 4 and 5 stars, indicating widespread satisfaction. This high satisfaction suggests a robust foundation for tourism growth.</a:t>
            </a:r>
            <a:endParaRPr lang="en-US" sz="1750" dirty="0"/>
          </a:p>
        </p:txBody>
      </p:sp>
      <p:sp>
        <p:nvSpPr>
          <p:cNvPr id="6" name="Text 3"/>
          <p:cNvSpPr/>
          <p:nvPr/>
        </p:nvSpPr>
        <p:spPr>
          <a:xfrm>
            <a:off x="7599521" y="4607243"/>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However, the focus now shifts to understanding the nuances behind these high ratings and identifying opportunities to convert high satisfaction into repeat visits and increased spend.</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897523" y="63793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Peak Popularity</a:t>
            </a:r>
            <a:endParaRPr lang="en-US" sz="2200" dirty="0"/>
          </a:p>
        </p:txBody>
      </p:sp>
      <p:sp>
        <p:nvSpPr>
          <p:cNvPr id="3" name="Text 1"/>
          <p:cNvSpPr/>
          <p:nvPr/>
        </p:nvSpPr>
        <p:spPr>
          <a:xfrm>
            <a:off x="4209693" y="1219081"/>
            <a:ext cx="6211014" cy="708779"/>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Top-Rated Attractions</a:t>
            </a:r>
            <a:endParaRPr lang="en-US" sz="4450" dirty="0"/>
          </a:p>
        </p:txBody>
      </p:sp>
      <p:sp>
        <p:nvSpPr>
          <p:cNvPr id="4" name="Text 2"/>
          <p:cNvSpPr/>
          <p:nvPr/>
        </p:nvSpPr>
        <p:spPr>
          <a:xfrm>
            <a:off x="793790" y="2472095"/>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Analysis of attraction popularity highlights "Attraction ID 640" as a clear outlier, consistently receiving the highest number of ratings. This dominant popularity suggests it serves as a major draw for tourists, likely acting as an anchor destination.</a:t>
            </a:r>
            <a:endParaRPr lang="en-US" sz="1750" dirty="0"/>
          </a:p>
        </p:txBody>
      </p:sp>
      <p:sp>
        <p:nvSpPr>
          <p:cNvPr id="5" name="Text 3"/>
          <p:cNvSpPr/>
          <p:nvPr/>
        </p:nvSpPr>
        <p:spPr>
          <a:xfrm>
            <a:off x="793790" y="4490680"/>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Understanding what makes Attraction 640 so successful can provide valuable insights for other venues. Is it unique offerings, strategic location, or exceptional visitor experience? This data point merits deeper investigation to replicate its success elsewhere.</a:t>
            </a:r>
            <a:endParaRPr lang="en-US" sz="1750" dirty="0"/>
          </a:p>
        </p:txBody>
      </p:sp>
      <p:pic>
        <p:nvPicPr>
          <p:cNvPr id="6" name="Image 0" descr="preencoded.png">    </p:cNvPr>
          <p:cNvPicPr>
            <a:picLocks noChangeAspect="1"/>
          </p:cNvPicPr>
          <p:nvPr/>
        </p:nvPicPr>
        <p:blipFill>
          <a:blip r:embed="rId1"/>
          <a:stretch>
            <a:fillRect/>
          </a:stretch>
        </p:blipFill>
        <p:spPr>
          <a:xfrm>
            <a:off x="7599521" y="2523172"/>
            <a:ext cx="6244709" cy="48133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112431" y="623292"/>
            <a:ext cx="2405539" cy="300633"/>
          </a:xfrm>
          <a:prstGeom prst="rect">
            <a:avLst/>
          </a:prstGeom>
          <a:noFill/>
          <a:ln/>
        </p:spPr>
        <p:txBody>
          <a:bodyPr wrap="none" lIns="0" tIns="0" rIns="0" bIns="0" rtlCol="0" anchor="t"/>
          <a:lstStyle/>
          <a:p>
            <a:pPr algn="ctr" indent="0" marL="0">
              <a:lnSpc>
                <a:spcPts val="2350"/>
              </a:lnSpc>
              <a:buNone/>
            </a:pPr>
            <a:r>
              <a:rPr lang="en-US" sz="1850" dirty="0">
                <a:solidFill>
                  <a:srgbClr val="484237"/>
                </a:solidFill>
                <a:latin typeface="Gelasio Semi Bold" pitchFamily="34" charset="0"/>
                <a:ea typeface="Gelasio Semi Bold" pitchFamily="34" charset="-122"/>
                <a:cs typeface="Gelasio Semi Bold" pitchFamily="34" charset="-120"/>
              </a:rPr>
              <a:t>Who's Traveling?</a:t>
            </a:r>
            <a:endParaRPr lang="en-US" sz="1850" dirty="0"/>
          </a:p>
        </p:txBody>
      </p:sp>
      <p:sp>
        <p:nvSpPr>
          <p:cNvPr id="3" name="Text 1"/>
          <p:cNvSpPr/>
          <p:nvPr/>
        </p:nvSpPr>
        <p:spPr>
          <a:xfrm>
            <a:off x="4805243" y="1116330"/>
            <a:ext cx="5019913" cy="601385"/>
          </a:xfrm>
          <a:prstGeom prst="rect">
            <a:avLst/>
          </a:prstGeom>
          <a:noFill/>
          <a:ln/>
        </p:spPr>
        <p:txBody>
          <a:bodyPr wrap="none" lIns="0" tIns="0" rIns="0" bIns="0" rtlCol="0" anchor="t"/>
          <a:lstStyle/>
          <a:p>
            <a:pPr algn="ctr" indent="0" marL="0">
              <a:lnSpc>
                <a:spcPts val="4700"/>
              </a:lnSpc>
              <a:buNone/>
            </a:pPr>
            <a:r>
              <a:rPr lang="en-US" sz="3750" dirty="0">
                <a:solidFill>
                  <a:srgbClr val="484237"/>
                </a:solidFill>
                <a:latin typeface="Gelasio Semi Bold" pitchFamily="34" charset="0"/>
                <a:ea typeface="Gelasio Semi Bold" pitchFamily="34" charset="-122"/>
                <a:cs typeface="Gelasio Semi Bold" pitchFamily="34" charset="-120"/>
              </a:rPr>
              <a:t>Visit Mode Dynamics</a:t>
            </a:r>
            <a:endParaRPr lang="en-US" sz="3750" dirty="0"/>
          </a:p>
        </p:txBody>
      </p:sp>
      <p:pic>
        <p:nvPicPr>
          <p:cNvPr id="4" name="Image 0" descr="preencoded.png">    </p:cNvPr>
          <p:cNvPicPr>
            <a:picLocks noChangeAspect="1"/>
          </p:cNvPicPr>
          <p:nvPr/>
        </p:nvPicPr>
        <p:blipFill>
          <a:blip r:embed="rId1"/>
          <a:stretch>
            <a:fillRect/>
          </a:stretch>
        </p:blipFill>
        <p:spPr>
          <a:xfrm>
            <a:off x="792361" y="2439233"/>
            <a:ext cx="5880854" cy="4950619"/>
          </a:xfrm>
          <a:prstGeom prst="rect">
            <a:avLst/>
          </a:prstGeom>
        </p:spPr>
      </p:pic>
      <p:sp>
        <p:nvSpPr>
          <p:cNvPr id="5" name="Text 2"/>
          <p:cNvSpPr/>
          <p:nvPr/>
        </p:nvSpPr>
        <p:spPr>
          <a:xfrm>
            <a:off x="7557492" y="2179439"/>
            <a:ext cx="6288167" cy="923330"/>
          </a:xfrm>
          <a:prstGeom prst="rect">
            <a:avLst/>
          </a:prstGeom>
          <a:noFill/>
          <a:ln/>
        </p:spPr>
        <p:txBody>
          <a:bodyPr wrap="square" lIns="0" tIns="0" rIns="0" bIns="0" rtlCol="0" anchor="t"/>
          <a:lstStyle/>
          <a:p>
            <a:pPr algn="l" indent="0" marL="0">
              <a:lnSpc>
                <a:spcPts val="2400"/>
              </a:lnSpc>
              <a:buNone/>
            </a:pPr>
            <a:r>
              <a:rPr lang="en-US" sz="1500" dirty="0">
                <a:solidFill>
                  <a:srgbClr val="746558"/>
                </a:solidFill>
                <a:latin typeface="Gelasio" pitchFamily="34" charset="0"/>
                <a:ea typeface="Gelasio" pitchFamily="34" charset="-122"/>
                <a:cs typeface="Gelasio" pitchFamily="34" charset="-120"/>
              </a:rPr>
              <a:t>Our analysis shows that </a:t>
            </a:r>
            <a:pPr algn="l" indent="0" marL="0">
              <a:lnSpc>
                <a:spcPts val="2400"/>
              </a:lnSpc>
              <a:buNone/>
            </a:pPr>
            <a:r>
              <a:rPr lang="en-US" sz="1500" dirty="0">
                <a:solidFill>
                  <a:srgbClr val="C49F8C"/>
                </a:solidFill>
                <a:latin typeface="Gelasio" pitchFamily="34" charset="0"/>
                <a:ea typeface="Gelasio" pitchFamily="34" charset="-122"/>
                <a:cs typeface="Gelasio" pitchFamily="34" charset="-120"/>
              </a:rPr>
              <a:t>couples and families</a:t>
            </a:r>
            <a:pPr algn="l" indent="0" marL="0">
              <a:lnSpc>
                <a:spcPts val="2400"/>
              </a:lnSpc>
              <a:buNone/>
            </a:pPr>
            <a:r>
              <a:rPr lang="en-US" sz="1500" dirty="0">
                <a:solidFill>
                  <a:srgbClr val="746558"/>
                </a:solidFill>
                <a:latin typeface="Gelasio" pitchFamily="34" charset="0"/>
                <a:ea typeface="Gelasio" pitchFamily="34" charset="-122"/>
                <a:cs typeface="Gelasio" pitchFamily="34" charset="-120"/>
              </a:rPr>
              <a:t> constitute the largest segments of visitors. This insight is crucial for tailoring marketing efforts and developing family-friendly or romantic experience packages.</a:t>
            </a:r>
            <a:endParaRPr lang="en-US" sz="1500" dirty="0"/>
          </a:p>
        </p:txBody>
      </p:sp>
      <p:sp>
        <p:nvSpPr>
          <p:cNvPr id="6" name="Text 3"/>
          <p:cNvSpPr/>
          <p:nvPr/>
        </p:nvSpPr>
        <p:spPr>
          <a:xfrm>
            <a:off x="7557492" y="3275886"/>
            <a:ext cx="6288167" cy="1231106"/>
          </a:xfrm>
          <a:prstGeom prst="rect">
            <a:avLst/>
          </a:prstGeom>
          <a:noFill/>
          <a:ln/>
        </p:spPr>
        <p:txBody>
          <a:bodyPr wrap="square" lIns="0" tIns="0" rIns="0" bIns="0" rtlCol="0" anchor="t"/>
          <a:lstStyle/>
          <a:p>
            <a:pPr algn="l" indent="0" marL="0">
              <a:lnSpc>
                <a:spcPts val="2400"/>
              </a:lnSpc>
              <a:buNone/>
            </a:pPr>
            <a:r>
              <a:rPr lang="en-US" sz="1500" dirty="0">
                <a:solidFill>
                  <a:srgbClr val="746558"/>
                </a:solidFill>
                <a:latin typeface="Gelasio" pitchFamily="34" charset="0"/>
                <a:ea typeface="Gelasio" pitchFamily="34" charset="-122"/>
                <a:cs typeface="Gelasio" pitchFamily="34" charset="-120"/>
              </a:rPr>
              <a:t>Conversely, business travel accounts for a minimal share, suggesting a need to explore alternative strategies if this segment is to be targeted. Recognizing these predominant visit modes allows for more precise product development and promotional campaigns.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02856" y="621983"/>
            <a:ext cx="3224689" cy="353378"/>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Mapping Relationships</a:t>
            </a:r>
            <a:endParaRPr lang="en-US" sz="2200" dirty="0"/>
          </a:p>
        </p:txBody>
      </p:sp>
      <p:sp>
        <p:nvSpPr>
          <p:cNvPr id="3" name="Text 1"/>
          <p:cNvSpPr/>
          <p:nvPr/>
        </p:nvSpPr>
        <p:spPr>
          <a:xfrm>
            <a:off x="4487704" y="1201460"/>
            <a:ext cx="5654873" cy="706874"/>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Correlation Insights</a:t>
            </a:r>
            <a:endParaRPr lang="en-US" sz="4450" dirty="0"/>
          </a:p>
        </p:txBody>
      </p:sp>
      <p:sp>
        <p:nvSpPr>
          <p:cNvPr id="4" name="Text 2"/>
          <p:cNvSpPr/>
          <p:nvPr/>
        </p:nvSpPr>
        <p:spPr>
          <a:xfrm>
            <a:off x="791647" y="2451021"/>
            <a:ext cx="6247686" cy="1447800"/>
          </a:xfrm>
          <a:prstGeom prst="rect">
            <a:avLst/>
          </a:prstGeom>
          <a:noFill/>
          <a:ln/>
        </p:spPr>
        <p:txBody>
          <a:bodyPr wrap="square" lIns="0" tIns="0" rIns="0" bIns="0" rtlCol="0" anchor="t"/>
          <a:lstStyle/>
          <a:p>
            <a:pPr algn="l" indent="0" marL="0">
              <a:lnSpc>
                <a:spcPts val="2800"/>
              </a:lnSpc>
              <a:buNone/>
            </a:pPr>
            <a:r>
              <a:rPr lang="en-US" sz="1750" dirty="0">
                <a:solidFill>
                  <a:srgbClr val="746558"/>
                </a:solidFill>
                <a:latin typeface="Gelasio" pitchFamily="34" charset="0"/>
                <a:ea typeface="Gelasio" pitchFamily="34" charset="-122"/>
                <a:cs typeface="Gelasio" pitchFamily="34" charset="-120"/>
              </a:rPr>
              <a:t>The correlation heatmap reveals significant relationships between various data points, particularly strong correlations among specific location IDs. These insights can help identify complementary attractions or common visitor pathways.</a:t>
            </a:r>
            <a:endParaRPr lang="en-US" sz="1750" dirty="0"/>
          </a:p>
        </p:txBody>
      </p:sp>
      <p:sp>
        <p:nvSpPr>
          <p:cNvPr id="5" name="Text 3"/>
          <p:cNvSpPr/>
          <p:nvPr/>
        </p:nvSpPr>
        <p:spPr>
          <a:xfrm>
            <a:off x="791647" y="4102298"/>
            <a:ext cx="6247686" cy="1447800"/>
          </a:xfrm>
          <a:prstGeom prst="rect">
            <a:avLst/>
          </a:prstGeom>
          <a:noFill/>
          <a:ln/>
        </p:spPr>
        <p:txBody>
          <a:bodyPr wrap="square" lIns="0" tIns="0" rIns="0" bIns="0" rtlCol="0" anchor="t"/>
          <a:lstStyle/>
          <a:p>
            <a:pPr algn="l" indent="0" marL="0">
              <a:lnSpc>
                <a:spcPts val="2800"/>
              </a:lnSpc>
              <a:buNone/>
            </a:pPr>
            <a:r>
              <a:rPr lang="en-US" sz="1750" dirty="0">
                <a:solidFill>
                  <a:srgbClr val="746558"/>
                </a:solidFill>
                <a:latin typeface="Gelasio" pitchFamily="34" charset="0"/>
                <a:ea typeface="Gelasio" pitchFamily="34" charset="-122"/>
                <a:cs typeface="Gelasio" pitchFamily="34" charset="-120"/>
              </a:rPr>
              <a:t>Understanding these connections allows for optimized tour planning, bundled offers, and more efficient resource allocation across interconnected sites, ultimately improving the overall visitor journey.</a:t>
            </a:r>
            <a:endParaRPr lang="en-US" sz="1750" dirty="0"/>
          </a:p>
        </p:txBody>
      </p:sp>
      <p:pic>
        <p:nvPicPr>
          <p:cNvPr id="6" name="Image 0" descr="preencoded.png">    </p:cNvPr>
          <p:cNvPicPr>
            <a:picLocks noChangeAspect="1"/>
          </p:cNvPicPr>
          <p:nvPr/>
        </p:nvPicPr>
        <p:blipFill>
          <a:blip r:embed="rId1"/>
          <a:stretch>
            <a:fillRect/>
          </a:stretch>
        </p:blipFill>
        <p:spPr>
          <a:xfrm>
            <a:off x="7598688" y="2501979"/>
            <a:ext cx="6247686" cy="48675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14380" y="1360527"/>
            <a:ext cx="3601641" cy="354330"/>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Predicting the Experience</a:t>
            </a:r>
            <a:endParaRPr lang="en-US" sz="2200" dirty="0"/>
          </a:p>
        </p:txBody>
      </p:sp>
      <p:sp>
        <p:nvSpPr>
          <p:cNvPr id="3" name="Text 1"/>
          <p:cNvSpPr/>
          <p:nvPr/>
        </p:nvSpPr>
        <p:spPr>
          <a:xfrm>
            <a:off x="4370546" y="1941671"/>
            <a:ext cx="5889308" cy="708779"/>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Regression Modeling</a:t>
            </a:r>
            <a:endParaRPr lang="en-US" sz="4450" dirty="0"/>
          </a:p>
        </p:txBody>
      </p:sp>
      <p:sp>
        <p:nvSpPr>
          <p:cNvPr id="4" name="Text 2"/>
          <p:cNvSpPr/>
          <p:nvPr/>
        </p:nvSpPr>
        <p:spPr>
          <a:xfrm>
            <a:off x="793790" y="3194685"/>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Our application incorporates a </a:t>
            </a:r>
            <a:pPr algn="l" indent="0" marL="0">
              <a:lnSpc>
                <a:spcPts val="2850"/>
              </a:lnSpc>
              <a:buNone/>
            </a:pPr>
            <a:r>
              <a:rPr lang="en-US" sz="1750" dirty="0">
                <a:solidFill>
                  <a:srgbClr val="C49F8C"/>
                </a:solidFill>
                <a:latin typeface="Gelasio" pitchFamily="34" charset="0"/>
                <a:ea typeface="Gelasio" pitchFamily="34" charset="-122"/>
                <a:cs typeface="Gelasio" pitchFamily="34" charset="-120"/>
              </a:rPr>
              <a:t>Random Forest Regression</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model to predict tourist ratings. This predictive capability enables tourism platforms to anticipate potential satisfaction levels based on various factors, allowing for proactive adjustments.</a:t>
            </a:r>
            <a:endParaRPr lang="en-US" sz="1750" dirty="0"/>
          </a:p>
        </p:txBody>
      </p:sp>
      <p:sp>
        <p:nvSpPr>
          <p:cNvPr id="5" name="Text 3"/>
          <p:cNvSpPr/>
          <p:nvPr/>
        </p:nvSpPr>
        <p:spPr>
          <a:xfrm>
            <a:off x="793790" y="5213271"/>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Key performance metrics, including Mean Squared Error (MSE), Root Mean Squared Error (RMSE), and R², validate the model's accuracy, ensuring reliable predictions that can guide operational decisions and enhance visitor satisfaction.</a:t>
            </a:r>
            <a:endParaRPr lang="en-US" sz="1750" dirty="0"/>
          </a:p>
        </p:txBody>
      </p:sp>
      <p:pic>
        <p:nvPicPr>
          <p:cNvPr id="6" name="Image 0" descr="preencoded.png">    </p:cNvPr>
          <p:cNvPicPr>
            <a:picLocks noChangeAspect="1"/>
          </p:cNvPicPr>
          <p:nvPr/>
        </p:nvPicPr>
        <p:blipFill>
          <a:blip r:embed="rId1"/>
          <a:stretch>
            <a:fillRect/>
          </a:stretch>
        </p:blipFill>
        <p:spPr>
          <a:xfrm>
            <a:off x="7599521" y="3245763"/>
            <a:ext cx="6244709" cy="29532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21260" y="1538764"/>
            <a:ext cx="3987879" cy="354330"/>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Interactive Data Exploration</a:t>
            </a:r>
            <a:endParaRPr lang="en-US" sz="2200" dirty="0"/>
          </a:p>
        </p:txBody>
      </p:sp>
      <p:sp>
        <p:nvSpPr>
          <p:cNvPr id="3" name="Text 1"/>
          <p:cNvSpPr/>
          <p:nvPr/>
        </p:nvSpPr>
        <p:spPr>
          <a:xfrm>
            <a:off x="4479846" y="2119908"/>
            <a:ext cx="5670590" cy="708779"/>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Real-time EDA</a:t>
            </a:r>
            <a:endParaRPr lang="en-US" sz="4450" dirty="0"/>
          </a:p>
        </p:txBody>
      </p:sp>
      <p:pic>
        <p:nvPicPr>
          <p:cNvPr id="4" name="Image 0" descr="preencoded.png">    </p:cNvPr>
          <p:cNvPicPr>
            <a:picLocks noChangeAspect="1"/>
          </p:cNvPicPr>
          <p:nvPr/>
        </p:nvPicPr>
        <p:blipFill>
          <a:blip r:embed="rId1"/>
          <a:stretch>
            <a:fillRect/>
          </a:stretch>
        </p:blipFill>
        <p:spPr>
          <a:xfrm>
            <a:off x="793790" y="3423999"/>
            <a:ext cx="6244709" cy="3011686"/>
          </a:xfrm>
          <a:prstGeom prst="rect">
            <a:avLst/>
          </a:prstGeom>
        </p:spPr>
      </p:pic>
      <p:sp>
        <p:nvSpPr>
          <p:cNvPr id="5" name="Text 2"/>
          <p:cNvSpPr/>
          <p:nvPr/>
        </p:nvSpPr>
        <p:spPr>
          <a:xfrm>
            <a:off x="7599521" y="3372922"/>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Our Streamlit interface provides an intuitive platform for Exploratory Data Analysis (EDA). This interactive tool allows analysts and product managers to visualize distribution plots and conduct correlation analysis on demand.</a:t>
            </a:r>
            <a:endParaRPr lang="en-US" sz="1750" dirty="0"/>
          </a:p>
        </p:txBody>
      </p:sp>
      <p:sp>
        <p:nvSpPr>
          <p:cNvPr id="6" name="Text 3"/>
          <p:cNvSpPr/>
          <p:nvPr/>
        </p:nvSpPr>
        <p:spPr>
          <a:xfrm>
            <a:off x="7599521" y="5028605"/>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By offering real-time insights, the EDA module empowers users to gain a deeper understanding of the underlying data, fostering data-driven decision-making and rapid hypothesis testing in tourism product development.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4311" y="1360527"/>
            <a:ext cx="4701778" cy="354330"/>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Optimizing Visitor Categorization</a:t>
            </a:r>
            <a:endParaRPr lang="en-US" sz="2200" dirty="0"/>
          </a:p>
        </p:txBody>
      </p:sp>
      <p:sp>
        <p:nvSpPr>
          <p:cNvPr id="3" name="Text 1"/>
          <p:cNvSpPr/>
          <p:nvPr/>
        </p:nvSpPr>
        <p:spPr>
          <a:xfrm>
            <a:off x="3851315" y="1941671"/>
            <a:ext cx="6927771" cy="708779"/>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Visit Mode Classification</a:t>
            </a:r>
            <a:endParaRPr lang="en-US" sz="4450" dirty="0"/>
          </a:p>
        </p:txBody>
      </p:sp>
      <p:sp>
        <p:nvSpPr>
          <p:cNvPr id="4" name="Text 2"/>
          <p:cNvSpPr/>
          <p:nvPr/>
        </p:nvSpPr>
        <p:spPr>
          <a:xfrm>
            <a:off x="793790" y="3194685"/>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Using </a:t>
            </a:r>
            <a:pPr algn="l" indent="0" marL="0">
              <a:lnSpc>
                <a:spcPts val="2850"/>
              </a:lnSpc>
              <a:buNone/>
            </a:pPr>
            <a:r>
              <a:rPr lang="en-US" sz="1750" dirty="0">
                <a:solidFill>
                  <a:srgbClr val="C49F8C"/>
                </a:solidFill>
                <a:latin typeface="Gelasio" pitchFamily="34" charset="0"/>
                <a:ea typeface="Gelasio" pitchFamily="34" charset="-122"/>
                <a:cs typeface="Gelasio" pitchFamily="34" charset="-120"/>
              </a:rPr>
              <a:t>Random Forest Classification</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our application accurately predicts the visit mode (e.g., solo, couple, family). This classification model boasts high accuracy and F1 scores, confirming its reliability.</a:t>
            </a:r>
            <a:endParaRPr lang="en-US" sz="1750" dirty="0"/>
          </a:p>
        </p:txBody>
      </p:sp>
      <p:sp>
        <p:nvSpPr>
          <p:cNvPr id="5" name="Text 3"/>
          <p:cNvSpPr/>
          <p:nvPr/>
        </p:nvSpPr>
        <p:spPr>
          <a:xfrm>
            <a:off x="793790" y="4850368"/>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Precise visitor segmentation allows travel platforms to tailor experiences, promotions, and packages more effectively, catering to the specific needs and preferences of each identified group, thereby maximizing engagement and satisfaction.</a:t>
            </a:r>
            <a:endParaRPr lang="en-US" sz="1750" dirty="0"/>
          </a:p>
        </p:txBody>
      </p:sp>
      <p:pic>
        <p:nvPicPr>
          <p:cNvPr id="6" name="Image 0" descr="preencoded.png">    </p:cNvPr>
          <p:cNvPicPr>
            <a:picLocks noChangeAspect="1"/>
          </p:cNvPicPr>
          <p:nvPr/>
        </p:nvPicPr>
        <p:blipFill>
          <a:blip r:embed="rId1"/>
          <a:stretch>
            <a:fillRect/>
          </a:stretch>
        </p:blipFill>
        <p:spPr>
          <a:xfrm>
            <a:off x="7599521" y="3245763"/>
            <a:ext cx="6244709" cy="30605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161478" y="1525667"/>
            <a:ext cx="4307324" cy="354330"/>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Personalized Journey Creation</a:t>
            </a:r>
            <a:endParaRPr lang="en-US" sz="2200" dirty="0"/>
          </a:p>
        </p:txBody>
      </p:sp>
      <p:sp>
        <p:nvSpPr>
          <p:cNvPr id="3" name="Text 1"/>
          <p:cNvSpPr/>
          <p:nvPr/>
        </p:nvSpPr>
        <p:spPr>
          <a:xfrm>
            <a:off x="3191947" y="2106811"/>
            <a:ext cx="8246388" cy="708779"/>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Attraction Recommendations</a:t>
            </a:r>
            <a:endParaRPr lang="en-US" sz="4450" dirty="0"/>
          </a:p>
        </p:txBody>
      </p:sp>
      <p:pic>
        <p:nvPicPr>
          <p:cNvPr id="4" name="Image 0" descr="preencoded.png">    </p:cNvPr>
          <p:cNvPicPr>
            <a:picLocks noChangeAspect="1"/>
          </p:cNvPicPr>
          <p:nvPr/>
        </p:nvPicPr>
        <p:blipFill>
          <a:blip r:embed="rId1"/>
          <a:stretch>
            <a:fillRect/>
          </a:stretch>
        </p:blipFill>
        <p:spPr>
          <a:xfrm>
            <a:off x="793790" y="3410903"/>
            <a:ext cx="6244709" cy="3037761"/>
          </a:xfrm>
          <a:prstGeom prst="rect">
            <a:avLst/>
          </a:prstGeom>
        </p:spPr>
      </p:pic>
      <p:sp>
        <p:nvSpPr>
          <p:cNvPr id="5" name="Text 2"/>
          <p:cNvSpPr/>
          <p:nvPr/>
        </p:nvSpPr>
        <p:spPr>
          <a:xfrm>
            <a:off x="7599521" y="3359825"/>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At the core of enhancing traveler experience is our </a:t>
            </a:r>
            <a:pPr algn="l" indent="0" marL="0">
              <a:lnSpc>
                <a:spcPts val="2850"/>
              </a:lnSpc>
              <a:buNone/>
            </a:pPr>
            <a:r>
              <a:rPr lang="en-US" sz="1750" dirty="0">
                <a:solidFill>
                  <a:srgbClr val="C49F8C"/>
                </a:solidFill>
                <a:latin typeface="Gelasio" pitchFamily="34" charset="0"/>
                <a:ea typeface="Gelasio" pitchFamily="34" charset="-122"/>
                <a:cs typeface="Gelasio" pitchFamily="34" charset="-120"/>
              </a:rPr>
              <a:t>SVD-based recommendation engine</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This sophisticated system suggests relevant attractions tailored to individual user preferences, transforming a generic trip into a personalized adventure.</a:t>
            </a:r>
            <a:endParaRPr lang="en-US" sz="1750" dirty="0"/>
          </a:p>
        </p:txBody>
      </p:sp>
      <p:sp>
        <p:nvSpPr>
          <p:cNvPr id="6" name="Text 3"/>
          <p:cNvSpPr/>
          <p:nvPr/>
        </p:nvSpPr>
        <p:spPr>
          <a:xfrm>
            <a:off x="7599521" y="5015508"/>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By understanding past behaviors and preferences, the engine can proactively offer attractions that align with a user's interests, leading to higher engagement and satisfaction.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838230" y="1527334"/>
            <a:ext cx="2953822" cy="354330"/>
          </a:xfrm>
          <a:prstGeom prst="rect">
            <a:avLst/>
          </a:prstGeom>
          <a:noFill/>
          <a:ln/>
        </p:spPr>
        <p:txBody>
          <a:bodyPr wrap="none" lIns="0" tIns="0" rIns="0" bIns="0" rtlCol="0" anchor="t"/>
          <a:lstStyle/>
          <a:p>
            <a:pPr algn="ctr" indent="0" marL="0">
              <a:lnSpc>
                <a:spcPts val="2750"/>
              </a:lnSpc>
              <a:buNone/>
            </a:pPr>
            <a:r>
              <a:rPr lang="en-US" sz="2200" dirty="0">
                <a:solidFill>
                  <a:srgbClr val="484237"/>
                </a:solidFill>
                <a:latin typeface="Gelasio Semi Bold" pitchFamily="34" charset="0"/>
                <a:ea typeface="Gelasio Semi Bold" pitchFamily="34" charset="-122"/>
                <a:cs typeface="Gelasio Semi Bold" pitchFamily="34" charset="-120"/>
              </a:rPr>
              <a:t>Tailored Experiences</a:t>
            </a:r>
            <a:endParaRPr lang="en-US" sz="2200" dirty="0"/>
          </a:p>
        </p:txBody>
      </p:sp>
      <p:sp>
        <p:nvSpPr>
          <p:cNvPr id="3" name="Text 1"/>
          <p:cNvSpPr/>
          <p:nvPr/>
        </p:nvSpPr>
        <p:spPr>
          <a:xfrm>
            <a:off x="2037755" y="2108478"/>
            <a:ext cx="10554772" cy="708779"/>
          </a:xfrm>
          <a:prstGeom prst="rect">
            <a:avLst/>
          </a:prstGeom>
          <a:noFill/>
          <a:ln/>
        </p:spPr>
        <p:txBody>
          <a:bodyPr wrap="none" lIns="0" tIns="0" rIns="0" bIns="0" rtlCol="0" anchor="t"/>
          <a:lstStyle/>
          <a:p>
            <a:pPr algn="ctr"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Dynamic Recommendations in Action</a:t>
            </a:r>
            <a:endParaRPr lang="en-US" sz="4450" dirty="0"/>
          </a:p>
        </p:txBody>
      </p:sp>
      <p:sp>
        <p:nvSpPr>
          <p:cNvPr id="4" name="Text 2"/>
          <p:cNvSpPr/>
          <p:nvPr/>
        </p:nvSpPr>
        <p:spPr>
          <a:xfrm>
            <a:off x="793790" y="3361492"/>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The recommendation engine dynamically generates a </a:t>
            </a:r>
            <a:pPr algn="l" indent="0" marL="0">
              <a:lnSpc>
                <a:spcPts val="2850"/>
              </a:lnSpc>
              <a:buNone/>
            </a:pPr>
            <a:r>
              <a:rPr lang="en-US" sz="1750" dirty="0">
                <a:solidFill>
                  <a:srgbClr val="C49F8C"/>
                </a:solidFill>
                <a:latin typeface="Gelasio" pitchFamily="34" charset="0"/>
                <a:ea typeface="Gelasio" pitchFamily="34" charset="-122"/>
                <a:cs typeface="Gelasio" pitchFamily="34" charset="-120"/>
              </a:rPr>
              <a:t>personalized top 5 list of attractions</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for each user, as demonstrated in this alternative user case. This feature is critical for travel platforms aiming to deliver truly customized journeys.</a:t>
            </a:r>
            <a:endParaRPr lang="en-US" sz="1750" dirty="0"/>
          </a:p>
        </p:txBody>
      </p:sp>
      <p:sp>
        <p:nvSpPr>
          <p:cNvPr id="5" name="Text 3"/>
          <p:cNvSpPr/>
          <p:nvPr/>
        </p:nvSpPr>
        <p:spPr>
          <a:xfrm>
            <a:off x="793790" y="5380077"/>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By presenting highly relevant options, we empower users to discover experiences they'll love, driving repeat visits and fostering stronger loyalty to the platform.</a:t>
            </a:r>
            <a:endParaRPr lang="en-US" sz="1750" dirty="0"/>
          </a:p>
        </p:txBody>
      </p:sp>
      <p:pic>
        <p:nvPicPr>
          <p:cNvPr id="6" name="Image 0" descr="preencoded.png">    </p:cNvPr>
          <p:cNvPicPr>
            <a:picLocks noChangeAspect="1"/>
          </p:cNvPicPr>
          <p:nvPr/>
        </p:nvPicPr>
        <p:blipFill>
          <a:blip r:embed="rId1"/>
          <a:stretch>
            <a:fillRect/>
          </a:stretch>
        </p:blipFill>
        <p:spPr>
          <a:xfrm>
            <a:off x="7599521" y="3412569"/>
            <a:ext cx="6244709" cy="30344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2025-08-20T08:08:13Z</dcterms:created>
  <dcterms:modified xsi:type="dcterms:W3CDTF">2025-08-20T08:08:13Z</dcterms:modified>
</cp:coreProperties>
</file>